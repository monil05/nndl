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2588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92334"/>
                </a:solidFill>
                <a:latin typeface="Aptos"/>
              </a:defRPr>
            </a:pPr>
            <a:r>
              <a:t>Deepfake image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4688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192334"/>
                </a:solidFill>
                <a:latin typeface="Aptos"/>
              </a:defRPr>
            </a:pPr>
            <a:r>
              <a:t>Custom CNN versus EfficientNet-B0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46171"/>
                </a:solidFill>
                <a:latin typeface="Aptos"/>
              </a:defRPr>
            </a:pPr>
            <a:r>
              <a:t>NNDL project  |  Final results and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92334"/>
                </a:solidFill>
                <a:latin typeface="Aptos"/>
              </a:defRPr>
            </a:pPr>
            <a:r>
              <a:t>Task and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192334"/>
                </a:solidFill>
                <a:latin typeface="Aptos"/>
              </a:defRPr>
            </a:pPr>
            <a:r>
              <a:t>Binary classification of face images: FAKE or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3172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2334"/>
                </a:solidFill>
                <a:latin typeface="Aptos"/>
              </a:defRPr>
            </a:pPr>
            <a:r>
              <a:t>Training: 8,000 images  (4,000 per class)</a:t>
            </a:r>
          </a:p>
          <a:p>
            <a:pPr>
              <a:spcAft>
                <a:spcPts val="1000"/>
              </a:spcAft>
              <a:defRPr sz="2200" b="0">
                <a:solidFill>
                  <a:srgbClr val="192334"/>
                </a:solidFill>
                <a:latin typeface="Aptos"/>
              </a:defRPr>
            </a:pPr>
            <a:r>
              <a:t>Validation: 1,000 images  (500 per class)</a:t>
            </a:r>
          </a:p>
          <a:p>
            <a:pPr>
              <a:spcAft>
                <a:spcPts val="1000"/>
              </a:spcAft>
              <a:defRPr sz="2200" b="0">
                <a:solidFill>
                  <a:srgbClr val="192334"/>
                </a:solidFill>
                <a:latin typeface="Aptos"/>
              </a:defRPr>
            </a:pPr>
            <a:r>
              <a:t>Held-out test: 1,000 images  (500 per class)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0749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546171"/>
                </a:solidFill>
                <a:latin typeface="Aptos"/>
              </a:defRPr>
            </a:pPr>
            <a:r>
              <a:t>The integrity report found no corrupt images or exact duplicates crossing splits.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92334"/>
                </a:solidFill>
                <a:latin typeface="Aptos"/>
              </a:defRPr>
            </a:pPr>
            <a:r>
              <a:t>Two models, one test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192334"/>
                </a:solidFill>
                <a:latin typeface="Aptos"/>
              </a:defRPr>
            </a:pPr>
            <a:r>
              <a:t>Custom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2334"/>
                </a:solidFill>
                <a:latin typeface="Aptos"/>
              </a:defRPr>
            </a:pPr>
            <a:r>
              <a:t>Trained from scratch</a:t>
            </a:r>
          </a:p>
          <a:p>
            <a:pPr>
              <a:spcAft>
                <a:spcPts val="1000"/>
              </a:spcAft>
              <a:defRPr sz="2100" b="0">
                <a:solidFill>
                  <a:srgbClr val="192334"/>
                </a:solidFill>
                <a:latin typeface="Aptos"/>
              </a:defRPr>
            </a:pPr>
            <a:r>
              <a:t>224 × 224 input</a:t>
            </a:r>
          </a:p>
          <a:p>
            <a:pPr>
              <a:spcAft>
                <a:spcPts val="1000"/>
              </a:spcAft>
              <a:defRPr sz="2100" b="0">
                <a:solidFill>
                  <a:srgbClr val="192334"/>
                </a:solidFill>
                <a:latin typeface="Aptos"/>
              </a:defRPr>
            </a:pPr>
            <a:r>
              <a:t>AdamW and early stopping</a:t>
            </a:r>
          </a:p>
          <a:p>
            <a:pPr>
              <a:spcAft>
                <a:spcPts val="1000"/>
              </a:spcAft>
              <a:defRPr sz="2100" b="0">
                <a:solidFill>
                  <a:srgbClr val="192334"/>
                </a:solidFill>
                <a:latin typeface="Aptos"/>
              </a:defRPr>
            </a:pPr>
            <a:r>
              <a:t>11 logged epochs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17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192334"/>
                </a:solidFill>
                <a:latin typeface="Aptos"/>
              </a:defRPr>
            </a:pPr>
            <a:r>
              <a:t>EfficientNet-B0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057400"/>
            <a:ext cx="52120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2334"/>
                </a:solidFill>
                <a:latin typeface="Aptos"/>
              </a:defRPr>
            </a:pPr>
            <a:r>
              <a:t>ImageNet transfer learning</a:t>
            </a:r>
          </a:p>
          <a:p>
            <a:pPr>
              <a:spcAft>
                <a:spcPts val="1000"/>
              </a:spcAft>
              <a:defRPr sz="2100" b="0">
                <a:solidFill>
                  <a:srgbClr val="192334"/>
                </a:solidFill>
                <a:latin typeface="Aptos"/>
              </a:defRPr>
            </a:pPr>
            <a:r>
              <a:t>Classifier head, then feature fine-tuning</a:t>
            </a:r>
          </a:p>
          <a:p>
            <a:pPr>
              <a:spcAft>
                <a:spcPts val="1000"/>
              </a:spcAft>
              <a:defRPr sz="2100" b="0">
                <a:solidFill>
                  <a:srgbClr val="192334"/>
                </a:solidFill>
                <a:latin typeface="Aptos"/>
              </a:defRPr>
            </a:pPr>
            <a:r>
              <a:t>Best validation-loss checkpoint</a:t>
            </a:r>
          </a:p>
          <a:p>
            <a:pPr>
              <a:spcAft>
                <a:spcPts val="1000"/>
              </a:spcAft>
              <a:defRPr sz="2100" b="0">
                <a:solidFill>
                  <a:srgbClr val="192334"/>
                </a:solidFill>
                <a:latin typeface="Aptos"/>
              </a:defRPr>
            </a:pPr>
            <a:r>
              <a:t>25 logged epochs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92334"/>
                </a:solidFill>
                <a:latin typeface="Aptos"/>
              </a:defRPr>
            </a:pPr>
            <a:r>
              <a:t>EfficientNet leads on every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46171"/>
                </a:solidFill>
                <a:latin typeface="Aptos"/>
              </a:defRPr>
            </a:pPr>
            <a:r>
              <a:t>Held-out test set; FAKE is the positive class</a:t>
            </a:r>
          </a:p>
        </p:txBody>
      </p:sp>
      <p:pic>
        <p:nvPicPr>
          <p:cNvPr id="4" name="Picture 3" descr="cnn_vs_efficientne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645920"/>
            <a:ext cx="8412480" cy="50007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92334"/>
                </a:solidFill>
                <a:latin typeface="Aptos"/>
              </a:defRPr>
            </a:pPr>
            <a:r>
              <a:t>96.9% accuracy on the held-out test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92334"/>
                </a:solidFill>
                <a:latin typeface="Aptos"/>
              </a:defRPr>
            </a:pPr>
            <a:r>
              <a:t>EfficientNet-B0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92334"/>
                </a:solidFill>
                <a:latin typeface="Aptos"/>
              </a:defRPr>
            </a:pPr>
            <a:r>
              <a:t>Accuracy  96.9%</a:t>
            </a:r>
          </a:p>
          <a:p>
            <a:pPr>
              <a:spcAft>
                <a:spcPts val="1000"/>
              </a:spcAft>
              <a:defRPr sz="2300" b="0">
                <a:solidFill>
                  <a:srgbClr val="192334"/>
                </a:solidFill>
                <a:latin typeface="Aptos"/>
              </a:defRPr>
            </a:pPr>
            <a:r>
              <a:t>Precision  96.6%</a:t>
            </a:r>
          </a:p>
          <a:p>
            <a:pPr>
              <a:spcAft>
                <a:spcPts val="1000"/>
              </a:spcAft>
              <a:defRPr sz="2300" b="0">
                <a:solidFill>
                  <a:srgbClr val="192334"/>
                </a:solidFill>
                <a:latin typeface="Aptos"/>
              </a:defRPr>
            </a:pPr>
            <a:r>
              <a:t>Recall  97.2%</a:t>
            </a:r>
          </a:p>
          <a:p>
            <a:pPr>
              <a:spcAft>
                <a:spcPts val="1000"/>
              </a:spcAft>
              <a:defRPr sz="2300" b="0">
                <a:solidFill>
                  <a:srgbClr val="192334"/>
                </a:solidFill>
                <a:latin typeface="Aptos"/>
              </a:defRPr>
            </a:pPr>
            <a:r>
              <a:t>F1  96.9%</a:t>
            </a:r>
          </a:p>
          <a:p>
            <a:pPr>
              <a:spcAft>
                <a:spcPts val="1000"/>
              </a:spcAft>
              <a:defRPr sz="2300" b="0">
                <a:solidFill>
                  <a:srgbClr val="192334"/>
                </a:solidFill>
                <a:latin typeface="Aptos"/>
              </a:defRPr>
            </a:pPr>
            <a:r>
              <a:t>ROC-AUC  0.9963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417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92334"/>
                </a:solidFill>
                <a:latin typeface="Aptos"/>
              </a:defRPr>
            </a:pPr>
            <a:r>
              <a:t>Custom 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10312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92334"/>
                </a:solidFill>
                <a:latin typeface="Aptos"/>
              </a:defRPr>
            </a:pPr>
            <a:r>
              <a:t>Accuracy  72.3%</a:t>
            </a:r>
          </a:p>
          <a:p>
            <a:pPr>
              <a:spcAft>
                <a:spcPts val="1000"/>
              </a:spcAft>
              <a:defRPr sz="2300" b="0">
                <a:solidFill>
                  <a:srgbClr val="192334"/>
                </a:solidFill>
                <a:latin typeface="Aptos"/>
              </a:defRPr>
            </a:pPr>
            <a:r>
              <a:t>Precision  69.9%</a:t>
            </a:r>
          </a:p>
          <a:p>
            <a:pPr>
              <a:spcAft>
                <a:spcPts val="1000"/>
              </a:spcAft>
              <a:defRPr sz="2300" b="0">
                <a:solidFill>
                  <a:srgbClr val="192334"/>
                </a:solidFill>
                <a:latin typeface="Aptos"/>
              </a:defRPr>
            </a:pPr>
            <a:r>
              <a:t>Recall  78.4%</a:t>
            </a:r>
          </a:p>
          <a:p>
            <a:pPr>
              <a:spcAft>
                <a:spcPts val="1000"/>
              </a:spcAft>
              <a:defRPr sz="2300" b="0">
                <a:solidFill>
                  <a:srgbClr val="192334"/>
                </a:solidFill>
                <a:latin typeface="Aptos"/>
              </a:defRPr>
            </a:pPr>
            <a:r>
              <a:t>F1  73.9%</a:t>
            </a:r>
          </a:p>
          <a:p>
            <a:pPr>
              <a:spcAft>
                <a:spcPts val="1000"/>
              </a:spcAft>
              <a:defRPr sz="2300" b="0">
                <a:solidFill>
                  <a:srgbClr val="192334"/>
                </a:solidFill>
                <a:latin typeface="Aptos"/>
              </a:defRPr>
            </a:pPr>
            <a:r>
              <a:t>ROC-AUC  0.8018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92334"/>
                </a:solidFill>
                <a:latin typeface="Aptos"/>
              </a:defRPr>
            </a:pPr>
            <a: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46171"/>
                </a:solidFill>
                <a:latin typeface="Aptos"/>
              </a:defRPr>
            </a:pPr>
            <a:r>
              <a:t>Rows are true classes; columns are predicted classes</a:t>
            </a:r>
          </a:p>
        </p:txBody>
      </p:sp>
      <p:pic>
        <p:nvPicPr>
          <p:cNvPr id="4" name="Picture 3" descr="cnn_vs_efficientnet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7315200" cy="32388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75320" y="1627632"/>
            <a:ext cx="32004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92334"/>
                </a:solidFill>
                <a:latin typeface="Aptos"/>
              </a:defRPr>
            </a:pPr>
            <a:r>
              <a:t>CNN: 277 errors</a:t>
            </a:r>
          </a:p>
          <a:p>
            <a:pPr>
              <a:spcAft>
                <a:spcPts val="1000"/>
              </a:spcAft>
              <a:defRPr sz="2000" b="0">
                <a:solidFill>
                  <a:srgbClr val="192334"/>
                </a:solidFill>
                <a:latin typeface="Aptos"/>
              </a:defRPr>
            </a:pPr>
            <a:r>
              <a:t>EfficientNet: 31 errors</a:t>
            </a:r>
          </a:p>
          <a:p>
            <a:pPr>
              <a:spcAft>
                <a:spcPts val="1000"/>
              </a:spcAft>
              <a:defRPr sz="2000" b="0">
                <a:solidFill>
                  <a:srgbClr val="192334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000" b="0">
                <a:solidFill>
                  <a:srgbClr val="192334"/>
                </a:solidFill>
                <a:latin typeface="Aptos"/>
              </a:defRPr>
            </a:pPr>
            <a:r>
              <a:t>REAL false alarms:</a:t>
            </a:r>
          </a:p>
          <a:p>
            <a:pPr>
              <a:spcAft>
                <a:spcPts val="1000"/>
              </a:spcAft>
              <a:defRPr sz="2000" b="0">
                <a:solidFill>
                  <a:srgbClr val="192334"/>
                </a:solidFill>
                <a:latin typeface="Aptos"/>
              </a:defRPr>
            </a:pPr>
            <a:r>
              <a:t>169 → 17</a:t>
            </a:r>
          </a:p>
          <a:p>
            <a:pPr>
              <a:spcAft>
                <a:spcPts val="1000"/>
              </a:spcAft>
              <a:defRPr sz="2000" b="0">
                <a:solidFill>
                  <a:srgbClr val="192334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000" b="0">
                <a:solidFill>
                  <a:srgbClr val="192334"/>
                </a:solidFill>
                <a:latin typeface="Aptos"/>
              </a:defRPr>
            </a:pPr>
            <a:r>
              <a:t>Missed FAKE images:</a:t>
            </a:r>
          </a:p>
          <a:p>
            <a:pPr>
              <a:spcAft>
                <a:spcPts val="1000"/>
              </a:spcAft>
              <a:defRPr sz="2000" b="0">
                <a:solidFill>
                  <a:srgbClr val="192334"/>
                </a:solidFill>
                <a:latin typeface="Aptos"/>
              </a:defRPr>
            </a:pPr>
            <a:r>
              <a:t>108 →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92334"/>
                </a:solidFill>
                <a:latin typeface="Aptos"/>
              </a:defRPr>
            </a:pPr>
            <a:r>
              <a:t>Training behavior</a:t>
            </a:r>
          </a:p>
        </p:txBody>
      </p:sp>
      <p:pic>
        <p:nvPicPr>
          <p:cNvPr id="3" name="Picture 2" descr="cnn_vs_efficientnet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858000" cy="45347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26679" y="1645920"/>
            <a:ext cx="3749039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92334"/>
                </a:solidFill>
                <a:latin typeface="Aptos"/>
              </a:defRPr>
            </a:pPr>
            <a:r>
              <a:t>CNN final train / validation gap: 6.25 points.</a:t>
            </a:r>
          </a:p>
          <a:p>
            <a:pPr>
              <a:spcAft>
                <a:spcPts val="1000"/>
              </a:spcAft>
              <a:defRPr sz="1800" b="0">
                <a:solidFill>
                  <a:srgbClr val="192334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1800" b="0">
                <a:solidFill>
                  <a:srgbClr val="192334"/>
                </a:solidFill>
                <a:latin typeface="Aptos"/>
              </a:defRPr>
            </a:pPr>
            <a:r>
              <a:t>EfficientNet gap at the selected epoch: 1.35 points.</a:t>
            </a:r>
          </a:p>
          <a:p>
            <a:pPr>
              <a:spcAft>
                <a:spcPts val="1000"/>
              </a:spcAft>
              <a:defRPr sz="1800" b="0">
                <a:solidFill>
                  <a:srgbClr val="192334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1800" b="0">
                <a:solidFill>
                  <a:srgbClr val="192334"/>
                </a:solidFill>
                <a:latin typeface="Aptos"/>
              </a:defRPr>
            </a:pPr>
            <a:r>
              <a:t>Both show some late-stage overfitting; evaluation uses the best validation-loss checkpoint.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92334"/>
                </a:solidFill>
                <a:latin typeface="Aptos"/>
              </a:defRPr>
            </a:pPr>
            <a:r>
              <a:t>Local image-upload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92334"/>
                </a:solidFill>
                <a:latin typeface="Aptos"/>
              </a:defRPr>
            </a:pPr>
            <a:r>
              <a:t>Upload a face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2334"/>
                </a:solidFill>
                <a:latin typeface="Aptos"/>
              </a:defRPr>
            </a:pPr>
            <a:r>
              <a:t>EfficientNet-B0 applies the same test preprocessing and computes P(FAKE).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92334"/>
                </a:solidFill>
                <a:latin typeface="Aptos"/>
              </a:defRPr>
            </a:pPr>
            <a:r>
              <a:t>Output: FAKE or REAL  •  predicted-class confidence  •  P(FAKE)  •  P(REAL)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546171"/>
                </a:solidFill>
                <a:latin typeface="Aptos"/>
              </a:defRPr>
            </a:pPr>
            <a:r>
              <a:t>Run: python -m streamlit run app/demo.py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92334"/>
                </a:solidFill>
                <a:latin typeface="Aptos"/>
              </a:defRPr>
            </a:pPr>
            <a:r>
              <a:t>Conclusion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508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192334"/>
                </a:solidFill>
                <a:latin typeface="Aptos"/>
              </a:defRPr>
            </a:pPr>
            <a:r>
              <a:t>EfficientNet-B0 meets the project targets and improves accuracy by 24.6 percentage points over the CNN.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2334"/>
                </a:solidFill>
                <a:latin typeface="Aptos"/>
              </a:defRPr>
            </a:pPr>
            <a:r>
              <a:t>The result is measured on one held-out dataset. Performance across other generators or cameras is unknown.</a:t>
            </a:r>
          </a:p>
          <a:p>
            <a:pPr>
              <a:spcAft>
                <a:spcPts val="1000"/>
              </a:spcAft>
              <a:defRPr sz="2100" b="0">
                <a:solidFill>
                  <a:srgbClr val="192334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100" b="0">
                <a:solidFill>
                  <a:srgbClr val="192334"/>
                </a:solidFill>
                <a:latin typeface="Aptos"/>
              </a:defRPr>
            </a:pPr>
            <a:r>
              <a:t>The demo displays raw model probabilities, which are not calibrated authenticity guarantees.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